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1" r:id="rId15"/>
    <p:sldId id="273"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63" d="100"/>
          <a:sy n="63" d="100"/>
        </p:scale>
        <p:origin x="38" y="21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398780" y="5774055"/>
            <a:ext cx="17307560" cy="107632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EVENT REGISTRATION WEB APPLICATION USING</a:t>
            </a:r>
          </a:p>
          <a:p>
            <a:pPr algn="ctr"/>
            <a:r>
              <a:rPr lang="en-US" altLang="en-US" sz="3200" b="1" dirty="0">
                <a:solidFill>
                  <a:srgbClr val="0033CC"/>
                </a:solidFill>
                <a:latin typeface="Times New Roman" panose="02020603050405020304" pitchFamily="18" charset="0"/>
                <a:cs typeface="Times New Roman" panose="02020603050405020304" pitchFamily="18" charset="0"/>
              </a:rPr>
              <a:t>REACT JS</a:t>
            </a:r>
          </a:p>
        </p:txBody>
      </p:sp>
      <p:sp>
        <p:nvSpPr>
          <p:cNvPr id="14" name="TextBox 13"/>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B Rajesh Kumar – VTU26008– 23UECS0081</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591975" y="7884626"/>
            <a:ext cx="6914603" cy="286131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altLang="en-US" sz="3000" dirty="0">
                <a:latin typeface="Cambria" panose="02040503050406030204" pitchFamily="18" charset="0"/>
                <a:ea typeface="Cambria" panose="02040503050406030204" pitchFamily="18" charset="0"/>
              </a:rPr>
              <a:t>Dr.Hafizur Rahman - </a:t>
            </a:r>
            <a:r>
              <a:rPr lang="en-US" altLang="en-US" sz="3000" dirty="0">
                <a:latin typeface="Cambria" panose="02040503050406030204" pitchFamily="18" charset="0"/>
                <a:ea typeface="Cambria" panose="02040503050406030204" pitchFamily="18" charset="0"/>
                <a:sym typeface="+mn-ea"/>
              </a:rPr>
              <a:t>Assistant Professor</a:t>
            </a:r>
            <a:endParaRPr lang="en-US" altLang="en-US" sz="3000" dirty="0">
              <a:latin typeface="Cambria" panose="02040503050406030204" pitchFamily="18" charset="0"/>
              <a:ea typeface="Cambria" panose="02040503050406030204" pitchFamily="18" charset="0"/>
            </a:endParaRPr>
          </a:p>
          <a:p>
            <a:pPr>
              <a:lnSpc>
                <a:spcPct val="150000"/>
              </a:lnSpc>
            </a:pPr>
            <a:endParaRPr lang="en-US" altLang="en-US" sz="3000" dirty="0">
              <a:latin typeface="Cambria" panose="02040503050406030204" pitchFamily="18" charset="0"/>
              <a:ea typeface="Cambria" panose="02040503050406030204" pitchFamily="18" charset="0"/>
            </a:endParaRPr>
          </a:p>
          <a:p>
            <a:pPr>
              <a:lnSpc>
                <a:spcPct val="150000"/>
              </a:lnSpc>
            </a:pPr>
            <a:endParaRPr lang="en-US" alt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3792200" cy="4405630"/>
          </a:xfrm>
          <a:prstGeom prst="rect">
            <a:avLst/>
          </a:prstGeom>
          <a:noFill/>
        </p:spPr>
        <p:txBody>
          <a:bodyPr wrap="square" rtlCol="0">
            <a:noAutofit/>
          </a:bodyPr>
          <a:lstStyle/>
          <a:p>
            <a:pPr indent="0" algn="just">
              <a:buNone/>
            </a:pPr>
            <a:r>
              <a:rPr lang="en-US" altLang="en-US" sz="3200" dirty="0">
                <a:latin typeface="Times New Roman" panose="02020603050405020304" pitchFamily="18" charset="0"/>
                <a:cs typeface="Times New Roman" panose="02020603050405020304" pitchFamily="18" charset="0"/>
              </a:rPr>
              <a:t>The College Event Registration Portal developed using React JS is a dedicated</a:t>
            </a:r>
          </a:p>
          <a:p>
            <a:pPr indent="0" algn="just">
              <a:buNone/>
            </a:pPr>
            <a:r>
              <a:rPr lang="en-US" altLang="en-US" sz="3200" dirty="0">
                <a:latin typeface="Times New Roman" panose="02020603050405020304" pitchFamily="18" charset="0"/>
                <a:cs typeface="Times New Roman" panose="02020603050405020304" pitchFamily="18" charset="0"/>
              </a:rPr>
              <a:t>web-based platform aimed at simplifying and organizing the management of de_x0002_partmental events within academic institutions. In most colleges, activities such as hackathons, seminars, workshops, and cultural programs are conducted regularly, yet the coordination of these events often relies on fragmented communication chan_x0002_nels such as notice boards and messaging applications, leading to inefficiencies in information delivery . Students may miss important updates or deadlines, while organizers face challenges in maintaining accurate participant records using manual methods like spreadsheets or paper forms To address these challenges, this project introduces a centralized digital solution that connects students and event organizers through a single, user-friendly interface. The application is built using a modern full-stack approach, where React JS pro_x0002_vides a responsive and dynamic frontend, and Node.js with Express handles back_x0002_end operations and API communication efficiently</a:t>
            </a:r>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228600" y="5712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057400" y="1409700"/>
            <a:ext cx="15620365" cy="8376285"/>
          </a:xfrm>
          <a:prstGeom prst="rect">
            <a:avLst/>
          </a:prstGeom>
          <a:noFill/>
        </p:spPr>
        <p:txBody>
          <a:bodyPr wrap="square" rtlCol="0">
            <a:noAutofit/>
          </a:bodyPr>
          <a:lstStyle/>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1. Inconsistent Data Integrity:</a:t>
            </a:r>
            <a:r>
              <a:rPr lang="en-US" altLang="en-US" sz="3200" dirty="0">
                <a:latin typeface="Times New Roman" panose="02020603050405020304" pitchFamily="18" charset="0"/>
                <a:cs typeface="Times New Roman" panose="02020603050405020304" pitchFamily="18" charset="0"/>
              </a:rPr>
              <a:t> In the absence of a structured relational database system, there is no centralized mechanism to associate student information with specific event records. This results in data duplication, inconsistencies, and a high risk of mismatched registration details.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2. Absence of Self-Service Access: </a:t>
            </a:r>
            <a:r>
              <a:rPr lang="en-US" altLang="en-US" sz="3200" dirty="0">
                <a:latin typeface="Times New Roman" panose="02020603050405020304" pitchFamily="18" charset="0"/>
                <a:cs typeface="Times New Roman" panose="02020603050405020304" pitchFamily="18" charset="0"/>
              </a:rPr>
              <a:t>Students are unable to independently verify their registration status or view previously enrolled events. This dependency on organizers for basic information increases communication overhead and delays.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3. Limited Search and Filtering Capabilities:</a:t>
            </a:r>
            <a:r>
              <a:rPr lang="en-US" altLang="en-US" sz="3200" dirty="0">
                <a:latin typeface="Times New Roman" panose="02020603050405020304" pitchFamily="18" charset="0"/>
                <a:cs typeface="Times New Roman" panose="02020603050405020304" pitchFamily="18" charset="0"/>
              </a:rPr>
              <a:t> As the number of events increases, students face difficulty in identifying relevant opportunities due to the lack of filtering options based on category, date, or event type.</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4. Ineffective Capacity Control: </a:t>
            </a:r>
            <a:r>
              <a:rPr lang="en-US" altLang="en-US" sz="3200" dirty="0">
                <a:latin typeface="Times New Roman" panose="02020603050405020304" pitchFamily="18" charset="0"/>
                <a:cs typeface="Times New Roman" panose="02020603050405020304" pitchFamily="18" charset="0"/>
              </a:rPr>
              <a:t>Manual registration methods do not support</a:t>
            </a:r>
          </a:p>
          <a:p>
            <a:pPr marL="457200" indent="-457200" algn="jus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automatic enforcement of participant limits, resulting in overbooking and mismanagement of venue capacity during high-demand events.</a:t>
            </a:r>
          </a:p>
          <a:p>
            <a:pPr marL="457200" indent="-457200" algn="just">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5. Security and Access Limitations:</a:t>
            </a:r>
            <a:r>
              <a:rPr lang="en-US" altLang="en-US" sz="3200" dirty="0">
                <a:latin typeface="Times New Roman" panose="02020603050405020304" pitchFamily="18" charset="0"/>
                <a:cs typeface="Times New Roman" panose="02020603050405020304" pitchFamily="18" charset="0"/>
              </a:rPr>
              <a:t> Common tools such as shared forms do not provide adequate access control, making it difficult to restrict administrative actions and safeguard sensitive student data.</a:t>
            </a:r>
          </a:p>
          <a:p>
            <a:pPr marL="457200" indent="-457200" algn="just">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4764385" cy="6000750"/>
          </a:xfrm>
          <a:prstGeom prst="rect">
            <a:avLst/>
          </a:prstGeom>
          <a:noFill/>
        </p:spPr>
        <p:txBody>
          <a:bodyPr wrap="square" rtlCol="0">
            <a:spAutoFit/>
          </a:bodyPr>
          <a:lstStyle/>
          <a:p>
            <a:pPr indent="0">
              <a:buFont typeface="Arial" panose="020B0604020202020204" pitchFamily="34" charset="0"/>
              <a:buNone/>
            </a:pPr>
            <a:r>
              <a:rPr lang="en-US" altLang="en-US" sz="3200" dirty="0">
                <a:latin typeface="Times New Roman" panose="02020603050405020304" pitchFamily="18" charset="0"/>
                <a:cs typeface="Times New Roman" panose="02020603050405020304" pitchFamily="18" charset="0"/>
              </a:rPr>
              <a:t>The key objectives of this project are outlined as follows:</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To develop a fully functional web application using React JS that enables efficient handling of college event registrations through a modern and intuitive interface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To implement an administrative module that provides authorized users with the ability to create, modify, and remove event details while maintaining data con_x0002_sistency and control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utilize MySQL as a relational database system for secure, organized, and persistent storage of event and student-related information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design a student-centric interface that allows users to browse events based on categories, view detailed information, and complete registrations with minimal effort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To incorporate a feature that enables students to track and verify their registered events, improving transparency and reducing dependency on organizers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209800" y="1638300"/>
            <a:ext cx="15082325" cy="747776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The analysis of existing methods reveals several limitations related to accessi_x0002_bility, data handling, and system efficiency. To overcome these issues, the proposed Event Registration Portal is necessary for the following reasons:</a:t>
            </a:r>
          </a:p>
          <a:p>
            <a:pPr indent="0">
              <a:buFont typeface="Arial" panose="020B0604020202020204" pitchFamily="34" charset="0"/>
              <a:buNone/>
            </a:pPr>
            <a:endParaRPr lang="en-US" altLang="en-US" sz="3200" dirty="0">
              <a:latin typeface="Times New Roman" panose="02020603050405020304" pitchFamily="18" charset="0"/>
              <a:ea typeface="FZYaoTi" panose="02010601030101010101" charset="-122"/>
              <a:cs typeface="Times New Roman" panose="02020603050405020304" pitchFamily="18" charset="0"/>
            </a:endParaRP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Real-Time Updates: The system ensures that users receive instant information regarding event availability, reducing the risk of overbooking and improving transparency .</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Interactive User Experience: By leveraging React JS, the application delivers a smooth and responsive interface, enabling users to navigate and register without unnecessary delays or page reloads .</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Centralized Data Storage: The integration of a MySQL database replaces scattered data sources, ensuring secure, consistent, and easily retrievable records of events and participants.</a:t>
            </a:r>
          </a:p>
          <a:p>
            <a:pPr marL="457200" indent="-457200">
              <a:buFont typeface="Arial" panose="020B0604020202020204" pitchFamily="34" charset="0"/>
              <a:buChar char="•"/>
            </a:pPr>
            <a:r>
              <a:rPr lang="en-US" altLang="en-US" sz="3200" dirty="0">
                <a:latin typeface="Times New Roman" panose="02020603050405020304" pitchFamily="18" charset="0"/>
                <a:ea typeface="FZYaoTi" panose="02010601030101010101" charset="-122"/>
                <a:cs typeface="Times New Roman" panose="02020603050405020304" pitchFamily="18" charset="0"/>
              </a:rPr>
              <a:t> Automated Processes: The system reduces manual intervention by automating registration confirmation and data handling, thereby improving efficiency for both students and administrators</a:t>
            </a:r>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64792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286000" y="1943100"/>
            <a:ext cx="15082325" cy="206121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overall design of the Event Registration Portal follows a modular and lay_x0002_ered architecture, enabling clear separation between the frontend and backend sys_x0002_tems. This structure ensures scalability, maintainability, and efficient communication through RESTful APIs.</a:t>
            </a:r>
          </a:p>
        </p:txBody>
      </p:sp>
      <p:pic>
        <p:nvPicPr>
          <p:cNvPr id="2" name="Picture 1"/>
          <p:cNvPicPr>
            <a:picLocks noChangeAspect="1"/>
          </p:cNvPicPr>
          <p:nvPr/>
        </p:nvPicPr>
        <p:blipFill>
          <a:blip r:embed="rId2"/>
          <a:stretch>
            <a:fillRect/>
          </a:stretch>
        </p:blipFill>
        <p:spPr>
          <a:xfrm>
            <a:off x="4267200" y="3512820"/>
            <a:ext cx="10075545" cy="5730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 Box 5"/>
          <p:cNvSpPr txBox="1"/>
          <p:nvPr/>
        </p:nvSpPr>
        <p:spPr>
          <a:xfrm>
            <a:off x="2590800" y="1943100"/>
            <a:ext cx="13027660" cy="1623695"/>
          </a:xfrm>
          <a:prstGeom prst="rect">
            <a:avLst/>
          </a:prstGeom>
          <a:noFill/>
        </p:spPr>
        <p:txBody>
          <a:bodyPr wrap="square" rtlCol="0" anchor="t">
            <a:noAutofit/>
          </a:bodyPr>
          <a:lstStyle/>
          <a:p>
            <a:pPr marL="457200" indent="-457200" algn="just">
              <a:buFont typeface="Arial" panose="020B0604020202020204" pitchFamily="34" charset="0"/>
              <a:buChar char="•"/>
            </a:pPr>
            <a:r>
              <a:rPr lang="en-US" altLang="en-US" sz="3200">
                <a:latin typeface="Times New Roman" panose="02020603050405020304" pitchFamily="18" charset="0"/>
                <a:cs typeface="Times New Roman" panose="02020603050405020304" pitchFamily="18" charset="0"/>
              </a:rPr>
              <a:t>The Data Flow Diagram (DFD) represents how information moves through the system, highlighting interactions between users, processes, and data stores,depicts the logical flow of data within the system, showing how user inputs are processed, validated, and stored, and how results are delivered back to the user interface.</a:t>
            </a:r>
          </a:p>
        </p:txBody>
      </p:sp>
      <p:pic>
        <p:nvPicPr>
          <p:cNvPr id="7" name="Picture 6"/>
          <p:cNvPicPr>
            <a:picLocks noChangeAspect="1"/>
          </p:cNvPicPr>
          <p:nvPr/>
        </p:nvPicPr>
        <p:blipFill>
          <a:blip r:embed="rId2"/>
          <a:stretch>
            <a:fillRect/>
          </a:stretch>
        </p:blipFill>
        <p:spPr>
          <a:xfrm>
            <a:off x="9220200" y="4610100"/>
            <a:ext cx="7127875" cy="4398010"/>
          </a:xfrm>
          <a:prstGeom prst="rect">
            <a:avLst/>
          </a:prstGeom>
        </p:spPr>
      </p:pic>
      <p:pic>
        <p:nvPicPr>
          <p:cNvPr id="8" name="Picture 7"/>
          <p:cNvPicPr>
            <a:picLocks noChangeAspect="1"/>
          </p:cNvPicPr>
          <p:nvPr/>
        </p:nvPicPr>
        <p:blipFill>
          <a:blip r:embed="rId3"/>
          <a:stretch>
            <a:fillRect/>
          </a:stretch>
        </p:blipFill>
        <p:spPr>
          <a:xfrm>
            <a:off x="3657600" y="5600700"/>
            <a:ext cx="4678680" cy="26562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6985635"/>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system is developed using the following technologies:</a:t>
            </a:r>
          </a:p>
          <a:p>
            <a:pPr marL="457200" indent="-457200">
              <a:buFont typeface="Arial" panose="020B0604020202020204" pitchFamily="34" charset="0"/>
              <a:buChar char="•"/>
            </a:pPr>
            <a:endParaRPr lang="en-US" alt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 Frontend: </a:t>
            </a:r>
            <a:r>
              <a:rPr lang="en-US" altLang="en-US" sz="3200" dirty="0">
                <a:latin typeface="Times New Roman" panose="02020603050405020304" pitchFamily="18" charset="0"/>
                <a:cs typeface="Times New Roman" panose="02020603050405020304" pitchFamily="18" charset="0"/>
              </a:rPr>
              <a:t>React JS, HTML5, CSS3, JavaScript (ES6+), React Router, Axios for handling API requests and building dynamic user interfaces .</a:t>
            </a:r>
          </a:p>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 </a:t>
            </a:r>
            <a:r>
              <a:rPr lang="en-US" altLang="en-US" sz="3200" b="1" dirty="0">
                <a:latin typeface="Times New Roman" panose="02020603050405020304" pitchFamily="18" charset="0"/>
                <a:cs typeface="Times New Roman" panose="02020603050405020304" pitchFamily="18" charset="0"/>
              </a:rPr>
              <a:t>Backend:</a:t>
            </a:r>
            <a:r>
              <a:rPr lang="en-US" altLang="en-US" sz="3200" dirty="0">
                <a:latin typeface="Times New Roman" panose="02020603050405020304" pitchFamily="18" charset="0"/>
                <a:cs typeface="Times New Roman" panose="02020603050405020304" pitchFamily="18" charset="0"/>
              </a:rPr>
              <a:t> Node.js and Express framework for managing server-side logic and handling RESTful API communication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Database:</a:t>
            </a:r>
            <a:r>
              <a:rPr lang="en-US" altLang="en-US" sz="3200" dirty="0">
                <a:latin typeface="Times New Roman" panose="02020603050405020304" pitchFamily="18" charset="0"/>
                <a:cs typeface="Times New Roman" panose="02020603050405020304" pitchFamily="18" charset="0"/>
              </a:rPr>
              <a:t> MySQL, a relational database system used for efficient data storage, retrieval, and management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Development Tools: </a:t>
            </a:r>
            <a:r>
              <a:rPr lang="en-US" altLang="en-US" sz="3200" dirty="0">
                <a:latin typeface="Times New Roman" panose="02020603050405020304" pitchFamily="18" charset="0"/>
                <a:cs typeface="Times New Roman" panose="02020603050405020304" pitchFamily="18" charset="0"/>
              </a:rPr>
              <a:t>Visual Studio Code (VS Code), Node.js runtime environ_x0002_ment, and npm for package management and project setup .</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Hardware Requirements</a:t>
            </a:r>
            <a:r>
              <a:rPr lang="en-US" altLang="en-US" sz="3200" dirty="0">
                <a:latin typeface="Times New Roman" panose="02020603050405020304" pitchFamily="18" charset="0"/>
                <a:cs typeface="Times New Roman" panose="02020603050405020304" pitchFamily="18" charset="0"/>
              </a:rPr>
              <a:t>: Minimum 4GB RAM, Intel i3 processor or equiva_x0002_lent, and at least 20GB of available storage.</a:t>
            </a:r>
          </a:p>
          <a:p>
            <a:pPr marL="457200" indent="-4572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Software Requirements:</a:t>
            </a:r>
            <a:r>
              <a:rPr lang="en-US" altLang="en-US" sz="3200" dirty="0">
                <a:latin typeface="Times New Roman" panose="02020603050405020304" pitchFamily="18" charset="0"/>
                <a:cs typeface="Times New Roman" panose="02020603050405020304" pitchFamily="18" charset="0"/>
              </a:rPr>
              <a:t> Windows/Linux/macOS operating system with a mod_x0002_ern web browser such as Chrome, Edge, or Firefox.</a:t>
            </a:r>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79015" y="1714500"/>
            <a:ext cx="15082325" cy="7477760"/>
          </a:xfrm>
          <a:prstGeom prst="rect">
            <a:avLst/>
          </a:prstGeom>
          <a:noFill/>
        </p:spPr>
        <p:txBody>
          <a:bodyPr wrap="square" rtlCol="0">
            <a:spAutoFit/>
          </a:bodyPr>
          <a:lstStyle/>
          <a:p>
            <a:r>
              <a:rPr lang="en-US" altLang="en-US" sz="3200" b="1" dirty="0">
                <a:latin typeface="Times New Roman" panose="02020603050405020304" pitchFamily="18" charset="0"/>
                <a:cs typeface="Times New Roman" panose="02020603050405020304" pitchFamily="18" charset="0"/>
              </a:rPr>
              <a:t>Module 1: Student Authentication Module</a:t>
            </a:r>
          </a:p>
          <a:p>
            <a:r>
              <a:rPr lang="en-US" altLang="en-US" sz="3200" dirty="0">
                <a:latin typeface="Times New Roman" panose="02020603050405020304" pitchFamily="18" charset="0"/>
                <a:cs typeface="Times New Roman" panose="02020603050405020304" pitchFamily="18" charset="0"/>
              </a:rPr>
              <a:t>This module handles the login functionality for students using their academic credentials instead of traditional OTP-based systems.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 Module 2: Event Browsing and Search Module</a:t>
            </a:r>
          </a:p>
          <a:p>
            <a:r>
              <a:rPr lang="en-US" altLang="en-US" sz="3200" dirty="0">
                <a:latin typeface="Times New Roman" panose="02020603050405020304" pitchFamily="18" charset="0"/>
                <a:cs typeface="Times New Roman" panose="02020603050405020304" pitchFamily="18" charset="0"/>
              </a:rPr>
              <a:t>This module provides students with the ability to explore and filter available events.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3: Event Registration Module</a:t>
            </a:r>
          </a:p>
          <a:p>
            <a:r>
              <a:rPr lang="en-US" altLang="en-US" sz="3200" dirty="0">
                <a:latin typeface="Times New Roman" panose="02020603050405020304" pitchFamily="18" charset="0"/>
                <a:cs typeface="Times New Roman" panose="02020603050405020304" pitchFamily="18" charset="0"/>
              </a:rPr>
              <a:t>This module is responsible for handling event enrollment by students.</a:t>
            </a:r>
          </a:p>
          <a:p>
            <a:endParaRPr lang="en-US" altLang="en-US" sz="3200" dirty="0">
              <a:latin typeface="Times New Roman" panose="02020603050405020304" pitchFamily="18" charset="0"/>
              <a:cs typeface="Times New Roman" panose="02020603050405020304" pitchFamily="18" charset="0"/>
            </a:endParaRPr>
          </a:p>
          <a:p>
            <a:r>
              <a:rPr lang="en-US" altLang="en-US" sz="3200" b="1" dirty="0">
                <a:latin typeface="Times New Roman" panose="02020603050405020304" pitchFamily="18" charset="0"/>
                <a:cs typeface="Times New Roman" panose="02020603050405020304" pitchFamily="18" charset="0"/>
              </a:rPr>
              <a:t>Module 4: Calendar Management Module</a:t>
            </a:r>
          </a:p>
          <a:p>
            <a:r>
              <a:rPr lang="en-US" altLang="en-US" sz="3200" dirty="0">
                <a:latin typeface="Times New Roman" panose="02020603050405020304" pitchFamily="18" charset="0"/>
                <a:cs typeface="Times New Roman" panose="02020603050405020304" pitchFamily="18" charset="0"/>
              </a:rPr>
              <a:t>This module provides a visual representation of registered events.</a:t>
            </a:r>
          </a:p>
          <a:p>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 </a:t>
            </a:r>
            <a:r>
              <a:rPr lang="en-US" altLang="en-US" sz="3200" b="1" dirty="0">
                <a:latin typeface="Times New Roman" panose="02020603050405020304" pitchFamily="18" charset="0"/>
                <a:cs typeface="Times New Roman" panose="02020603050405020304" pitchFamily="18" charset="0"/>
              </a:rPr>
              <a:t>Module 5: Admin Management Module</a:t>
            </a:r>
            <a:endParaRPr lang="en-US" altLang="en-US" sz="3200" dirty="0">
              <a:latin typeface="Times New Roman" panose="02020603050405020304" pitchFamily="18" charset="0"/>
              <a:cs typeface="Times New Roman" panose="02020603050405020304" pitchFamily="18" charset="0"/>
            </a:endParaRPr>
          </a:p>
          <a:p>
            <a:r>
              <a:rPr lang="en-US" altLang="en-US" sz="3200" dirty="0">
                <a:latin typeface="Times New Roman" panose="02020603050405020304" pitchFamily="18" charset="0"/>
                <a:cs typeface="Times New Roman" panose="02020603050405020304" pitchFamily="18" charset="0"/>
              </a:rPr>
              <a:t>This module enables administrators to control and manage the entire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3505200" y="4076700"/>
            <a:ext cx="12085955" cy="5544820"/>
          </a:xfrm>
          <a:prstGeom prst="rect">
            <a:avLst/>
          </a:prstGeom>
        </p:spPr>
      </p:pic>
      <p:sp>
        <p:nvSpPr>
          <p:cNvPr id="4" name="Text Box 3"/>
          <p:cNvSpPr txBox="1"/>
          <p:nvPr/>
        </p:nvSpPr>
        <p:spPr>
          <a:xfrm>
            <a:off x="2362200" y="1790700"/>
            <a:ext cx="14116685" cy="2061210"/>
          </a:xfrm>
          <a:prstGeom prst="rect">
            <a:avLst/>
          </a:prstGeom>
          <a:noFill/>
        </p:spPr>
        <p:txBody>
          <a:bodyPr wrap="square" rtlCol="0" anchor="t">
            <a:spAutoFit/>
          </a:bodyPr>
          <a:lstStyle/>
          <a:p>
            <a:pPr algn="just"/>
            <a:r>
              <a:rPr lang="en-US" altLang="en-US" sz="3200">
                <a:latin typeface="Times New Roman" panose="02020603050405020304" pitchFamily="18" charset="0"/>
                <a:cs typeface="Times New Roman" panose="02020603050405020304" pitchFamily="18" charset="0"/>
              </a:rPr>
              <a:t>The system provides a dedicated interface where users can explore detailed in formation about each event, including description, category, date, and venue.Theinterface dynamically updates based on user interaction, ensuring a smooth browsing experience without page reloads.</a:t>
            </a:r>
            <a:endParaRPr 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1076325"/>
          </a:xfrm>
          <a:prstGeom prst="rect">
            <a:avLst/>
          </a:prstGeom>
          <a:noFill/>
        </p:spPr>
        <p:txBody>
          <a:bodyPr wrap="square" rtlCol="0">
            <a:spAutoFit/>
          </a:bodyPr>
          <a:lstStyle/>
          <a:p>
            <a:pPr marL="457200" indent="-457200" algn="just">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event exploration and selection interface, where multiple categorized events are displayed using card-based layouts.</a:t>
            </a:r>
          </a:p>
        </p:txBody>
      </p:sp>
      <p:pic>
        <p:nvPicPr>
          <p:cNvPr id="2" name="Picture 1"/>
          <p:cNvPicPr>
            <a:picLocks noChangeAspect="1"/>
          </p:cNvPicPr>
          <p:nvPr/>
        </p:nvPicPr>
        <p:blipFill>
          <a:blip r:embed="rId2"/>
          <a:stretch>
            <a:fillRect/>
          </a:stretch>
        </p:blipFill>
        <p:spPr>
          <a:xfrm>
            <a:off x="5791200" y="3238500"/>
            <a:ext cx="6814185" cy="6309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572000" y="3467100"/>
            <a:ext cx="11080750" cy="6194425"/>
          </a:xfrm>
          <a:prstGeom prst="rect">
            <a:avLst/>
          </a:prstGeom>
        </p:spPr>
      </p:pic>
      <p:sp>
        <p:nvSpPr>
          <p:cNvPr id="6" name="Text Box 5"/>
          <p:cNvSpPr txBox="1"/>
          <p:nvPr/>
        </p:nvSpPr>
        <p:spPr>
          <a:xfrm>
            <a:off x="2286000" y="1714500"/>
            <a:ext cx="14037310" cy="1568450"/>
          </a:xfrm>
          <a:prstGeom prst="rect">
            <a:avLst/>
          </a:prstGeom>
          <a:noFill/>
        </p:spPr>
        <p:txBody>
          <a:bodyPr wrap="square" rtlCol="0">
            <a:spAutoFit/>
          </a:bodyPr>
          <a:lstStyle/>
          <a:p>
            <a:r>
              <a:rPr lang="en-US" altLang="en-US" sz="3200">
                <a:latin typeface="Times New Roman" panose="02020603050405020304" pitchFamily="18" charset="0"/>
                <a:cs typeface="Times New Roman" panose="02020603050405020304" pitchFamily="18" charset="0"/>
              </a:rPr>
              <a:t>The administrative interface enables event organizers to manage event data</a:t>
            </a:r>
          </a:p>
          <a:p>
            <a:r>
              <a:rPr lang="en-US" altLang="en-US" sz="3200">
                <a:latin typeface="Times New Roman" panose="02020603050405020304" pitchFamily="18" charset="0"/>
                <a:cs typeface="Times New Roman" panose="02020603050405020304" pitchFamily="18" charset="0"/>
              </a:rPr>
              <a:t>efficiently. It provides features such as adding new events, deleting existing ones,</a:t>
            </a:r>
          </a:p>
          <a:p>
            <a:r>
              <a:rPr lang="en-US" altLang="en-US" sz="3200">
                <a:latin typeface="Times New Roman" panose="02020603050405020304" pitchFamily="18" charset="0"/>
                <a:cs typeface="Times New Roman" panose="02020603050405020304" pitchFamily="18" charset="0"/>
              </a:rPr>
              <a:t>and monitoring participant counts.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When a student selects an event, the system provides a simple registration interface where the user can confirm participation. The system validates inputs and ensures that the event capacity is not exceeded.</a:t>
            </a:r>
          </a:p>
        </p:txBody>
      </p:sp>
      <p:pic>
        <p:nvPicPr>
          <p:cNvPr id="3" name="Picture 2"/>
          <p:cNvPicPr>
            <a:picLocks noChangeAspect="1"/>
          </p:cNvPicPr>
          <p:nvPr/>
        </p:nvPicPr>
        <p:blipFill>
          <a:blip r:embed="rId2"/>
          <a:stretch>
            <a:fillRect/>
          </a:stretch>
        </p:blipFill>
        <p:spPr>
          <a:xfrm>
            <a:off x="5925185" y="3771900"/>
            <a:ext cx="7214870" cy="59042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After successful registration, the system updates the user’s personal calendar with the selected events. This feature allows users to track all their registered activi_x0002_ties in an organized manner.</a:t>
            </a:r>
          </a:p>
        </p:txBody>
      </p:sp>
      <p:pic>
        <p:nvPicPr>
          <p:cNvPr id="3" name="Picture 2"/>
          <p:cNvPicPr>
            <a:picLocks noChangeAspect="1"/>
          </p:cNvPicPr>
          <p:nvPr/>
        </p:nvPicPr>
        <p:blipFill>
          <a:blip r:embed="rId2"/>
          <a:stretch>
            <a:fillRect/>
          </a:stretch>
        </p:blipFill>
        <p:spPr>
          <a:xfrm>
            <a:off x="4191000" y="3467100"/>
            <a:ext cx="10104120" cy="59740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1568450"/>
          </a:xfrm>
          <a:prstGeom prst="rect">
            <a:avLst/>
          </a:prstGeom>
          <a:noFill/>
        </p:spPr>
        <p:txBody>
          <a:bodyPr wrap="square" rtlCol="0">
            <a:spAutoFit/>
          </a:bodyPr>
          <a:lstStyle/>
          <a:p>
            <a:pPr marL="457200" indent="-457200">
              <a:buFont typeface="Arial" panose="020B0604020202020204" pitchFamily="34" charset="0"/>
              <a:buChar char="•"/>
            </a:pPr>
            <a:r>
              <a:rPr lang="en-US" altLang="en-US" sz="3200" dirty="0">
                <a:latin typeface="Times New Roman" panose="02020603050405020304" pitchFamily="18" charset="0"/>
                <a:cs typeface="Times New Roman" panose="02020603050405020304" pitchFamily="18" charset="0"/>
              </a:rPr>
              <a:t>The backend successfully stores all relevant data in the MySQL database, en_x0002_suring persistence and reliability. Event details and student registrations are main_x0002_tained in structured tables, allowing efficient querying and retrieval.</a:t>
            </a:r>
          </a:p>
        </p:txBody>
      </p:sp>
      <p:pic>
        <p:nvPicPr>
          <p:cNvPr id="3" name="Picture 2"/>
          <p:cNvPicPr>
            <a:picLocks noChangeAspect="1"/>
          </p:cNvPicPr>
          <p:nvPr/>
        </p:nvPicPr>
        <p:blipFill>
          <a:blip r:embed="rId2"/>
          <a:stretch>
            <a:fillRect/>
          </a:stretch>
        </p:blipFill>
        <p:spPr>
          <a:xfrm>
            <a:off x="3810000" y="3763010"/>
            <a:ext cx="10280015" cy="46081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1858010" y="1866900"/>
            <a:ext cx="14928215" cy="7477760"/>
          </a:xfrm>
          <a:prstGeom prst="rect">
            <a:avLst/>
          </a:prstGeom>
          <a:noFill/>
        </p:spPr>
        <p:txBody>
          <a:bodyPr wrap="square" rtlCol="0" anchor="t">
            <a:spAutoFit/>
          </a:bodyPr>
          <a:lstStyle/>
          <a:p>
            <a:pPr algn="just"/>
            <a:r>
              <a:rPr lang="en-US" altLang="en-US" sz="3200" b="1">
                <a:latin typeface="Times New Roman" panose="02020603050405020304" pitchFamily="18" charset="0"/>
                <a:cs typeface="Times New Roman" panose="02020603050405020304" pitchFamily="18" charset="0"/>
              </a:rPr>
              <a:t>Advantages of the Project</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Unified Platform:</a:t>
            </a:r>
            <a:r>
              <a:rPr lang="en-US" altLang="en-US" sz="3200">
                <a:latin typeface="Times New Roman" panose="02020603050405020304" pitchFamily="18" charset="0"/>
                <a:cs typeface="Times New Roman" panose="02020603050405020304" pitchFamily="18" charset="0"/>
              </a:rPr>
              <a:t> Provides a single system for managing all departmental</a:t>
            </a:r>
          </a:p>
          <a:p>
            <a:pPr algn="just"/>
            <a:r>
              <a:rPr lang="en-US" altLang="en-US" sz="3200">
                <a:latin typeface="Times New Roman" panose="02020603050405020304" pitchFamily="18" charset="0"/>
                <a:cs typeface="Times New Roman" panose="02020603050405020304" pitchFamily="18" charset="0"/>
              </a:rPr>
              <a:t>events, eliminating scattered communication channels.</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Reliable Data Storage:</a:t>
            </a:r>
            <a:r>
              <a:rPr lang="en-US" altLang="en-US" sz="3200">
                <a:latin typeface="Times New Roman" panose="02020603050405020304" pitchFamily="18" charset="0"/>
                <a:cs typeface="Times New Roman" panose="02020603050405020304" pitchFamily="18" charset="0"/>
              </a:rPr>
              <a:t> Utilizes MySQL to ensure secure and long-term stor_x0002_age of event and registration data .</a:t>
            </a:r>
          </a:p>
          <a:p>
            <a:pPr algn="just"/>
            <a:r>
              <a:rPr lang="en-US" altLang="en-US" sz="3200">
                <a:latin typeface="Times New Roman" panose="02020603050405020304" pitchFamily="18" charset="0"/>
                <a:cs typeface="Times New Roman" panose="02020603050405020304" pitchFamily="18" charset="0"/>
              </a:rPr>
              <a:t>• </a:t>
            </a:r>
            <a:r>
              <a:rPr lang="en-US" altLang="en-US" sz="3200" b="1">
                <a:latin typeface="Times New Roman" panose="02020603050405020304" pitchFamily="18" charset="0"/>
                <a:cs typeface="Times New Roman" panose="02020603050405020304" pitchFamily="18" charset="0"/>
              </a:rPr>
              <a:t>Controlled Access: </a:t>
            </a:r>
            <a:r>
              <a:rPr lang="en-US" altLang="en-US" sz="3200">
                <a:latin typeface="Times New Roman" panose="02020603050405020304" pitchFamily="18" charset="0"/>
                <a:cs typeface="Times New Roman" panose="02020603050405020304" pitchFamily="18" charset="0"/>
              </a:rPr>
              <a:t>Authentication mechanism ensures only valid users can</a:t>
            </a:r>
          </a:p>
          <a:p>
            <a:pPr algn="just"/>
            <a:r>
              <a:rPr lang="en-US" altLang="en-US" sz="3200">
                <a:latin typeface="Times New Roman" panose="02020603050405020304" pitchFamily="18" charset="0"/>
                <a:cs typeface="Times New Roman" panose="02020603050405020304" pitchFamily="18" charset="0"/>
              </a:rPr>
              <a:t>access the system and perform operations.</a:t>
            </a:r>
          </a:p>
          <a:p>
            <a:pPr algn="just"/>
            <a:endParaRPr lang="en-US" sz="3200">
              <a:latin typeface="Times New Roman" panose="02020603050405020304" pitchFamily="18" charset="0"/>
              <a:cs typeface="Times New Roman" panose="02020603050405020304" pitchFamily="18" charset="0"/>
            </a:endParaRPr>
          </a:p>
          <a:p>
            <a:pPr algn="just"/>
            <a:r>
              <a:rPr lang="en-US" altLang="en-US" sz="3200" b="1">
                <a:latin typeface="Times New Roman" panose="02020603050405020304" pitchFamily="18" charset="0"/>
                <a:cs typeface="Times New Roman" panose="02020603050405020304" pitchFamily="18" charset="0"/>
              </a:rPr>
              <a:t>Limitations of the Project</a:t>
            </a:r>
          </a:p>
          <a:p>
            <a:pPr algn="just"/>
            <a:r>
              <a:rPr lang="en-US" altLang="en-US" sz="3200" b="1">
                <a:latin typeface="Times New Roman" panose="02020603050405020304" pitchFamily="18" charset="0"/>
                <a:cs typeface="Times New Roman" panose="02020603050405020304" pitchFamily="18" charset="0"/>
              </a:rPr>
              <a:t>• Authentication Simplicity:</a:t>
            </a:r>
            <a:r>
              <a:rPr lang="en-US" altLang="en-US" sz="3200">
                <a:latin typeface="Times New Roman" panose="02020603050405020304" pitchFamily="18" charset="0"/>
                <a:cs typeface="Times New Roman" panose="02020603050405020304" pitchFamily="18" charset="0"/>
              </a:rPr>
              <a:t> The current login mechanism is based on basic</a:t>
            </a:r>
          </a:p>
          <a:p>
            <a:pPr algn="just"/>
            <a:r>
              <a:rPr lang="en-US" altLang="en-US" sz="3200">
                <a:latin typeface="Times New Roman" panose="02020603050405020304" pitchFamily="18" charset="0"/>
                <a:cs typeface="Times New Roman" panose="02020603050405020304" pitchFamily="18" charset="0"/>
              </a:rPr>
              <a:t>credential validation (registration number and date of birth), which may not</a:t>
            </a:r>
          </a:p>
          <a:p>
            <a:pPr algn="just"/>
            <a:r>
              <a:rPr lang="en-US" altLang="en-US" sz="3200">
                <a:latin typeface="Times New Roman" panose="02020603050405020304" pitchFamily="18" charset="0"/>
                <a:cs typeface="Times New Roman" panose="02020603050405020304" pitchFamily="18" charset="0"/>
              </a:rPr>
              <a:t>provide advanced security features such as multi-factor authentication .</a:t>
            </a:r>
          </a:p>
          <a:p>
            <a:pPr algn="just"/>
            <a:r>
              <a:rPr lang="en-US" altLang="en-US" sz="3200" b="1">
                <a:latin typeface="Times New Roman" panose="02020603050405020304" pitchFamily="18" charset="0"/>
                <a:cs typeface="Times New Roman" panose="02020603050405020304" pitchFamily="18" charset="0"/>
              </a:rPr>
              <a:t>• Limited Intelligent Assistance:</a:t>
            </a:r>
            <a:r>
              <a:rPr lang="en-US" altLang="en-US" sz="3200">
                <a:latin typeface="Times New Roman" panose="02020603050405020304" pitchFamily="18" charset="0"/>
                <a:cs typeface="Times New Roman" panose="02020603050405020304" pitchFamily="18" charset="0"/>
              </a:rPr>
              <a:t> The system does not include an advanced AI_x0002_based assistant, and hence cannot handle complex user queries or provide con_x0002_versational support dynamically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1620</Words>
  <Application>Microsoft Office PowerPoint</Application>
  <PresentationFormat>Custom</PresentationFormat>
  <Paragraphs>259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Bookman Old Style</vt:lpstr>
      <vt:lpstr>Calibri</vt:lpstr>
      <vt:lpstr>Cambria</vt:lpstr>
      <vt:lpstr>Arial</vt:lpstr>
      <vt:lpstr>Gotham</vt:lpstr>
      <vt:lpstr>Gotham Bold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
  <cp:lastModifiedBy>K Varma</cp:lastModifiedBy>
  <cp:revision>16</cp:revision>
  <dcterms:created xsi:type="dcterms:W3CDTF">2006-08-16T00:00:00Z</dcterms:created>
  <dcterms:modified xsi:type="dcterms:W3CDTF">2026-05-06T04:20:42Z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1033-12.1.0.25862</vt:lpwstr>
  </property>
  <property fmtid="{D5CDD505-2E9C-101B-9397-08002B2CF9AE}" pid="3" name="ICV">
    <vt:lpwstr>11D7507ED1E34E0FA5E6C1B5141692DB_13</vt:lpwstr>
  </property>
</Properties>
</file>